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Customer Attrition Through Data-Driven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Arena — Week 8 Capstone Project  | 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840480"/>
            <a:ext cx="2011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315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2011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4315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Examined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201168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4315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Churn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57200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49240" y="10424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492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210312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49240" y="213969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34924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3200400"/>
            <a:ext cx="3474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49240" y="32369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$50K–$75K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4924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Risk/yr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246120"/>
            <a:ext cx="85953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2461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 Identify WHY customers leave and HOW to keep them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 mo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2024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$113.64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Charge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Examined: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060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60604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customer relationship (months)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859536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535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2953512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amount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30098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009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300984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/ One year / Two year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48456"/>
            <a:ext cx="859536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484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3648456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/ Credit Card / Electronic Check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9592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959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3995928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indicator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859536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434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4343400"/>
            <a:ext cx="6217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preference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#1: CONTRACT TYPE MATTERS MOST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30352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98755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6072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618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196596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9933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760720" y="2423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26243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97180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99923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760720" y="34290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36301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are  4.8x  more likely to churn than one-year contract customers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Offer 10-15% discount or 2-months-free to convert month-to-month customers to annual/two-year contracts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#2: NEW CUSTOMERS ARE HIGH RISK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30352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98755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60720" y="1463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— Churned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96596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9933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months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24688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— Retained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97180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99923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720" y="3474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in Year 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Retention Window: The FIRST 12 MONTHS of every customer relationship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Launch a First-Year Success Program — proactive onboarding, weekly check-ins (months 1-3), monthly surveys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#3: PRICE AFFECTS RETENTION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30352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005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$129.77/mo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60720" y="16459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22402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$111.72/mo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2926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Pay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834640"/>
            <a:ext cx="310896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Price Premium = Higher Churn Risk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prices create price sensitivity — churned customers pay 16% more on average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pricing strategy; offer loyalty discounts to long-tenure, high-charge customers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0292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914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Summary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0" y="1298448"/>
            <a:ext cx="3383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29844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95160" y="12984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92440" y="129844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0" y="1728216"/>
            <a:ext cx="338328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172821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95160" y="17282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92440" y="17282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2157984"/>
            <a:ext cx="3383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215798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95160" y="215798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92440" y="21579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587752"/>
            <a:ext cx="338328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25877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95160" y="25877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0.144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92440" y="25877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017520"/>
            <a:ext cx="3383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30175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95160" y="30175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0.829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92440" y="301752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0" y="3447288"/>
            <a:ext cx="338328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32120" y="34472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95160" y="34472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0.795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92440" y="34472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 Highly Significant (p&lt;0.001)  |  ✓ Significant (p&lt;0.05)  |  ✗ Not Significant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findings are statistically validated at the 99.9% confidence level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CHURN?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4864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Impact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3017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371600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91072" y="137160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137160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1801368"/>
            <a:ext cx="3017520" cy="39319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801368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91072" y="180136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1801368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2231136"/>
            <a:ext cx="3017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231136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91072" y="2231136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46720" y="2231136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2660904"/>
            <a:ext cx="3017520" cy="39319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2660904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91072" y="2660904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2660904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3090672"/>
            <a:ext cx="3017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090672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91072" y="3090672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3090672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52160" y="3520440"/>
            <a:ext cx="3017520" cy="39319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520440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91072" y="3520440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Billing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46720" y="352044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52160" y="3950208"/>
            <a:ext cx="3017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97880" y="3950208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91072" y="3950208"/>
            <a:ext cx="1737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0" y="3950208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 (0–3 months)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9961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9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Contract Upgrade campaign — discounts for annual contracts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all 170 month-to-month customers with personalised outreach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First-Year Success Program with dedicated onboarding 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 (3–6 months)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389888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499616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99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1481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customer health score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2322576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23042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early warning alerts for at-risk customers (tenure &lt; 12 mo)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145536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127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tiered retention offer portfolio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27432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(6–12 months)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389888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49961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499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1481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churn ML model for proactive intervention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32257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230428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customer segments with tailored retention strategies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14553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145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312724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measurement, and optimisation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Reduce churn from 10.6% to 8% — a 25% improvement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 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~13/year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Customers Retained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$50K–$75K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Saved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Benefits: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703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Improved Customer Lifetime Value (CLV) across all segments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Stronger brand loyalty and Net Promoter Score (NPS)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2519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customer acquisition cost pressure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Valuable data for future predictive modelling and personalisation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4572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strongest predictor of churn (p &lt; 0.001)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31720"/>
            <a:ext cx="45720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 are critical — 80% of churn occurs in Year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91840"/>
            <a:ext cx="4572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91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optimisation needed — churned customers pay 16% more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Launch contract conversion campaign immediately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402336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842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Onboard Customer Success team with new 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402336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511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Deploy early warning system in 90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54096"/>
            <a:ext cx="402336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1810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Build and deploy predictive ML model by Q4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21024"/>
            <a:ext cx="402336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850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Report monthly churn metrics to leadership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187952"/>
            <a:ext cx="402336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actions can reduce churn to 8% and save $50,000–$75,000 in annual revenue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6400800" cy="420624"/>
          </a:xfrm>
          <a:prstGeom prst="rect">
            <a:avLst/>
          </a:prstGeom>
          <a:solidFill>
            <a:srgbClr val="1A3070"/>
          </a:solidFill>
          <a:ln w="12700">
            <a:solidFill>
              <a:srgbClr val="2A4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2004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Type: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320040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 20.6% vs 4.3% churn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3675888"/>
            <a:ext cx="6400800" cy="420624"/>
          </a:xfrm>
          <a:prstGeom prst="rect">
            <a:avLst/>
          </a:prstGeom>
          <a:solidFill>
            <a:srgbClr val="1A3070"/>
          </a:solidFill>
          <a:ln w="12700">
            <a:solidFill>
              <a:srgbClr val="2A4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6758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367588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first 12 months — 80% churn in Year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4151376"/>
            <a:ext cx="6400800" cy="420624"/>
          </a:xfrm>
          <a:prstGeom prst="rect">
            <a:avLst/>
          </a:prstGeom>
          <a:solidFill>
            <a:srgbClr val="1A3070"/>
          </a:solidFill>
          <a:ln w="12700">
            <a:solidFill>
              <a:srgbClr val="2A4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1513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41513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premium — price sensitivity matters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Arena — Data Analysis Team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Business Presentation — June 2026</dc:subject>
  <dc:creator>Data Analysis Team</dc:creator>
  <cp:lastModifiedBy>Data Analysis Team</cp:lastModifiedBy>
  <cp:revision>1</cp:revision>
  <dcterms:created xsi:type="dcterms:W3CDTF">2026-06-06T16:29:24Z</dcterms:created>
  <dcterms:modified xsi:type="dcterms:W3CDTF">2026-06-06T16:29:24Z</dcterms:modified>
</cp:coreProperties>
</file>